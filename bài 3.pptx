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4ba8b8571c147d7" /><Relationship Type="http://schemas.openxmlformats.org/officeDocument/2006/relationships/extended-properties" Target="/docProps/app.xml" Id="Ra21a28fe89f54193" /><Relationship Type="http://schemas.openxmlformats.org/officeDocument/2006/relationships/officeDocument" Target="/ppt/presentation.xml" Id="R9339007d3f1c4a0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c908ab597e74382"/>
  </p:sldMasterIdLst>
  <p:notesMasterIdLst>
    <p:notesMasterId xmlns:r="http://schemas.openxmlformats.org/officeDocument/2006/relationships" r:id="R2b6ce09d57424f33"/>
  </p:notesMasterIdLst>
  <p:sldIdLst>
    <p:sldId xmlns:r="http://schemas.openxmlformats.org/officeDocument/2006/relationships" id="256" r:id="R3541fc9851de4533"/>
  </p:sldIdLst>
  <p:sldSz cx="10287000" cy="1828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76e25be93614acc" /><Relationship Type="http://schemas.openxmlformats.org/officeDocument/2006/relationships/slideMaster" Target="/ppt/slideMasters/slideMaster1.xml" Id="R2c908ab597e74382" /><Relationship Type="http://schemas.openxmlformats.org/officeDocument/2006/relationships/notesMaster" Target="/ppt/notesMasters/notesMaster1.xml" Id="R2b6ce09d57424f33" /><Relationship Type="http://schemas.openxmlformats.org/officeDocument/2006/relationships/presProps" Target="/ppt/presProps.xml" Id="R5a9cdcccd50d4d14" /><Relationship Type="http://schemas.openxmlformats.org/officeDocument/2006/relationships/tableStyles" Target="/ppt/tableStyles.xml" Id="R4dae53b78c504f73" /><Relationship Type="http://schemas.openxmlformats.org/officeDocument/2006/relationships/slide" Target="/ppt/slides/slide1.xml" Id="R3541fc9851de453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4ee1fac93134bc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3a87dbc564446ae" /><Relationship Type="http://schemas.openxmlformats.org/officeDocument/2006/relationships/notesMaster" Target="/ppt/notesMasters/notesMaster1.xml" Id="R62df479ec7f446d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c70039781d49c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e18a67456a4c2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8cce0e2a494ea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8200f52406431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b51c04e8e74da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ff572ff8b349f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24F7224-41E6-473A-B115-CA052468D0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6908800"/>
            <a:ext cx="8229600" cy="264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B16B493-0B4C-4E86-BC90-0D10F94D4DA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43050" y="10058400"/>
            <a:ext cx="7200900" cy="20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1A2D0FE-CD23-4F80-B99A-8B4F53CE48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7620000"/>
            <a:ext cx="82296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590DF9E-F6AA-4EC7-8685-4F6F60E2D0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422400"/>
            <a:ext cx="9129713" cy="223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7544897-CAD9-487E-B119-B6649AF5AC9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5080000"/>
            <a:ext cx="9129713" cy="1137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1pPr>
            <a:lvl2pPr marL="45005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2pPr>
            <a:lvl3pPr marL="70723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3pPr>
            <a:lvl4pPr marL="96440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4pPr>
            <a:lvl5pPr marL="12215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5pPr>
            <a:lvl6pPr marL="147875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6pPr>
            <a:lvl7pPr marL="173593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7pPr>
            <a:lvl8pPr marL="199310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8pPr>
            <a:lvl9pPr marL="22502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FC0CD44-655E-4346-B5F4-71D05A0136D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422400"/>
            <a:ext cx="9129713" cy="223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81FD990-112A-4D58-832F-B693EE33445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5080000"/>
            <a:ext cx="4243388" cy="1137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1pPr>
            <a:lvl2pPr marL="45005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2pPr>
            <a:lvl3pPr marL="70723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3pPr>
            <a:lvl4pPr marL="96440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4pPr>
            <a:lvl5pPr marL="12215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5pPr>
            <a:lvl6pPr marL="147875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6pPr>
            <a:lvl7pPr marL="173593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7pPr>
            <a:lvl8pPr marL="199310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8pPr>
            <a:lvl9pPr marL="22502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3721A06-995C-4097-9DE2-341F948D6C1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464969" y="5080000"/>
            <a:ext cx="4243388" cy="1137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1pPr>
            <a:lvl2pPr marL="45005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2pPr>
            <a:lvl3pPr marL="70723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3pPr>
            <a:lvl4pPr marL="96440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4pPr>
            <a:lvl5pPr marL="12215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5pPr>
            <a:lvl6pPr marL="147875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6pPr>
            <a:lvl7pPr marL="173593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7pPr>
            <a:lvl8pPr marL="199310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8pPr>
            <a:lvl9pPr marL="22502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735321D-A508-498D-B7D5-C036D85C2C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422400"/>
            <a:ext cx="9129713" cy="223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7812FB5-C342-4A5F-BB23-BE10CD1CB4F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5080000"/>
            <a:ext cx="4243388" cy="1137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1pPr>
            <a:lvl2pPr marL="45005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2pPr>
            <a:lvl3pPr marL="70723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3pPr>
            <a:lvl4pPr marL="96440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4pPr>
            <a:lvl5pPr marL="12215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5pPr>
            <a:lvl6pPr marL="147875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6pPr>
            <a:lvl7pPr marL="173593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7pPr>
            <a:lvl8pPr marL="199310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8pPr>
            <a:lvl9pPr marL="22502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f234b3a53ae4ea2" /><Relationship Type="http://schemas.openxmlformats.org/officeDocument/2006/relationships/slideLayout" Target="/ppt/slideLayouts/slideLayout1.xml" Id="R9dd072ac4edc4984" /><Relationship Type="http://schemas.openxmlformats.org/officeDocument/2006/relationships/slideLayout" Target="/ppt/slideLayouts/slideLayout2.xml" Id="R3f9ac4971b4b4fca" /><Relationship Type="http://schemas.openxmlformats.org/officeDocument/2006/relationships/slideLayout" Target="/ppt/slideLayouts/slideLayout3.xml" Id="R26f383f3240a4ec9" /><Relationship Type="http://schemas.openxmlformats.org/officeDocument/2006/relationships/slideLayout" Target="/ppt/slideLayouts/slideLayout4.xml" Id="R1210e688ebb14d55" /><Relationship Type="http://schemas.openxmlformats.org/officeDocument/2006/relationships/slideLayout" Target="/ppt/slideLayouts/slideLayout5.xml" Id="R697176b5bdfb4a6c" /><Relationship Type="http://schemas.openxmlformats.org/officeDocument/2006/relationships/slideLayout" Target="/ppt/slideLayouts/slideLayout6.xml" Id="R4fb9c14188d64b3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dd072ac4edc4984"/>
    <p:sldLayoutId xmlns:r="http://schemas.openxmlformats.org/officeDocument/2006/relationships" id="2147483650" r:id="R3f9ac4971b4b4fca"/>
    <p:sldLayoutId xmlns:r="http://schemas.openxmlformats.org/officeDocument/2006/relationships" id="2147483651" r:id="R26f383f3240a4ec9"/>
    <p:sldLayoutId xmlns:r="http://schemas.openxmlformats.org/officeDocument/2006/relationships" id="2147483652" r:id="R1210e688ebb14d55"/>
    <p:sldLayoutId xmlns:r="http://schemas.openxmlformats.org/officeDocument/2006/relationships" id="2147483653" r:id="R697176b5bdfb4a6c"/>
    <p:sldLayoutId xmlns:r="http://schemas.openxmlformats.org/officeDocument/2006/relationships" id="2147483654" r:id="R4fb9c14188d64b3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d63ba1538f4ad7" /><Relationship Type="http://schemas.openxmlformats.org/officeDocument/2006/relationships/chart" Target="/ppt/slides/charts/chart1.xml" Id="R72c1b1d3800f4307" /><Relationship Type="http://schemas.openxmlformats.org/officeDocument/2006/relationships/chart" Target="/ppt/slides/charts/chart2.xml" Id="Rcda00b22ab854102" /><Relationship Type="http://schemas.openxmlformats.org/officeDocument/2006/relationships/notesSlide" Target="/ppt/notesSlides/notesSlide1.xml" Id="R38c534347ed9444a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Nhu cầu thị trường</c:v>
          </c:tx>
          <c:spPr>
            <a:solidFill xmlns:a="http://schemas.openxmlformats.org/drawingml/2006/main">
              <a:srgbClr val="06B6D4"/>
            </a:solidFill>
          </c:spPr>
          <c:cat>
            <c:strRef>
              <c:f>'Chart Data'!$A$2:$A$6</c:f>
              <c:strCache>
                <c:ptCount val="5"/>
                <c:pt idx="0">
                  <c:v>DevOps / SRE</c:v>
                </c:pt>
                <c:pt idx="1">
                  <c:v>Cybersecurity</c:v>
                </c:pt>
                <c:pt idx="2">
                  <c:v>Data Engineering</c:v>
                </c:pt>
                <c:pt idx="3">
                  <c:v>Cloud Architecture</c:v>
                </c:pt>
                <c:pt idx="4">
                  <c:v>AI / Machine Learning</c:v>
                </c:pt>
              </c:strCache>
            </c:strRef>
          </c:cat>
          <c:val>
            <c:numRef>
              <c:f>'Chart Data'!$B$2:$B$6</c:f>
              <c:numCache>
                <c:formatCode>0.0%</c:formatCode>
                <c:ptCount val="5"/>
                <c:pt idx="0">
                  <c:v>0.108</c:v>
                </c:pt>
                <c:pt idx="1">
                  <c:v>0.142</c:v>
                </c:pt>
                <c:pt idx="2">
                  <c:v>0.185</c:v>
                </c:pt>
                <c:pt idx="3">
                  <c:v>0.24</c:v>
                </c:pt>
                <c:pt idx="4">
                  <c:v>0.325</c:v>
                </c:pt>
              </c:numCache>
            </c:numRef>
          </c:val>
        </c:ser>
        <c:dLbls>
          <c:numFmt formatCode="0.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025" b="1">
                  <a:solidFill>
                    <a:srgbClr val="FFFFFF"/>
                  </a:solidFill>
                  <a:latin typeface="DejaVu Sans"/>
                  <a:ea typeface="DejaVu Sans"/>
                  <a:cs typeface="DejaVu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  <c:max val="0.36"/>
          <c:min val="0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F172A"/>
        </a:solidFill>
      </c:spPr>
    </c:plotArea>
    <c:plotVisOnly val="1"/>
  </c:chart>
  <c:spPr>
    <a:solidFill xmlns:a="http://schemas.openxmlformats.org/drawingml/2006/main">
      <a:srgbClr val="0F172A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stacked"/>
        <c:varyColors val="0"/>
        <c:ser>
          <c:idx val="0"/>
          <c:order val="0"/>
          <c:tx>
            <c:v>Đã ứng dụng</c:v>
          </c:tx>
          <c:spPr>
            <a:solidFill xmlns:a="http://schemas.openxmlformats.org/drawingml/2006/main">
              <a:srgbClr val="22C55E"/>
            </a:solidFill>
          </c:spPr>
          <c:cat>
            <c:strRef>
              <c:f>'Chart Data'!$A$2:$A$2</c:f>
              <c:strCache>
                <c:ptCount val="1"/>
                <c:pt idx="0">
                  <c:v>Tích hợp AI</c:v>
                </c:pt>
              </c:strCache>
            </c:strRef>
          </c:cat>
          <c:val>
            <c:numRef>
              <c:f>'Chart Data'!$B$2:$B$2</c:f>
              <c:numCache>
                <c:formatCode>General</c:formatCode>
                <c:ptCount val="1"/>
                <c:pt idx="0">
                  <c:v>0.785</c:v>
                </c:pt>
              </c:numCache>
            </c:numRef>
          </c:val>
        </c:ser>
        <c:ser>
          <c:idx val="1"/>
          <c:order val="1"/>
          <c:tx>
            <c:v>Phần còn lại</c:v>
          </c:tx>
          <c:spPr>
            <a:solidFill xmlns:a="http://schemas.openxmlformats.org/drawingml/2006/main">
              <a:srgbClr val="334155"/>
            </a:solidFill>
          </c:spPr>
          <c:cat>
            <c:strRef>
              <c:f>'Chart Data'!$C$2:$C$2</c:f>
              <c:strCache>
                <c:ptCount val="1"/>
                <c:pt idx="0">
                  <c:v>Tích hợp AI</c:v>
                </c:pt>
              </c:strCache>
            </c:strRef>
          </c:cat>
          <c:val>
            <c:numRef>
              <c:f>'Chart Data'!$D$2:$D$2</c:f>
              <c:numCache>
                <c:formatCode>General</c:formatCode>
                <c:ptCount val="1"/>
                <c:pt idx="0">
                  <c:v>0.215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DejaVu Sans"/>
                  <a:ea typeface="DejaVu Sans"/>
                  <a:cs typeface="DejaVu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0"/>
        <c:overlap val="100"/>
        <c:axId val="48650112"/>
        <c:axId val="48672768"/>
      </c:barChart>
      <c:catAx>
        <c:axId val="48650112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F172A"/>
        </a:solidFill>
      </c:spPr>
    </c:plotArea>
    <c:plotVisOnly val="1"/>
  </c:chart>
  <c:spPr>
    <a:solidFill xmlns:a="http://schemas.openxmlformats.org/drawingml/2006/main">
      <a:srgbClr val="0F172A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FD3479C-268B-450E-B4A7-F1D298D3F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5300"/>
            <a:ext cx="914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6B6D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6B6D4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6B6D4"/>
                </a:solidFill>
                <a:latin typeface="DejaVu Sans"/>
                <a:ea typeface="DejaVu Sans"/>
                <a:cs typeface="DejaVu Sans"/>
              </a:rPr>
              <a:t>BÁO CÁO THỊ TRƯỜNG VIỆC LÀM &amp; NHÂN LỰC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2743DE-E230-4DDD-B244-DF566EAEB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71550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CÔNG NGHỆ THÔNG TIN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D6D9AC-FC43-40E3-8D75-685D93DFF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85925"/>
            <a:ext cx="9144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050" b="1">
                <a:solidFill>
                  <a:srgbClr val="22C55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4050" b="1">
                <a:solidFill>
                  <a:srgbClr val="22C55E"/>
                </a:solidFill>
                <a:latin typeface="DejaVu Sans"/>
                <a:ea typeface="DejaVu Sans"/>
                <a:cs typeface="DejaVu Sans"/>
              </a:defRPr>
            </a:pPr>
            <a:r>
              <a:rPr sz="4050" b="1">
                <a:solidFill>
                  <a:srgbClr val="22C55E"/>
                </a:solidFill>
                <a:latin typeface="DejaVu Sans"/>
                <a:ea typeface="DejaVu Sans"/>
                <a:cs typeface="DejaVu Sans"/>
              </a:rPr>
              <a:t>VIỆT NAM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838DCF-051D-4AF9-893C-963C85A02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38400"/>
            <a:ext cx="914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CBD5E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CBD5E1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CBD5E1"/>
                </a:solidFill>
                <a:latin typeface="DejaVu Sans"/>
                <a:ea typeface="DejaVu Sans"/>
                <a:cs typeface="DejaVu Sans"/>
              </a:rPr>
              <a:t>Nhu cầu lớn, thiếu nhân lực chất lượng cao.</a:t>
            </a:r>
          </a:p>
          <a:p xmlns:a="http://schemas.openxmlformats.org/drawingml/2006/main">
            <a:pPr>
              <a:defRPr sz="2025" b="0">
                <a:solidFill>
                  <a:srgbClr val="CBD5E1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CBD5E1"/>
                </a:solidFill>
                <a:latin typeface="DejaVu Sans"/>
                <a:ea typeface="DejaVu Sans"/>
                <a:cs typeface="DejaVu Sans"/>
              </a:rPr>
              <a:t>AI và tự động hóa định hình kỹ năng tuyển dụng.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417575-D79F-412D-89C9-5567C421A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14700"/>
            <a:ext cx="914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1F866A-6F32-4ABE-ADA8-9E83C4D70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24250"/>
            <a:ext cx="914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6B6D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6B6D4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6B6D4"/>
                </a:solidFill>
                <a:latin typeface="DejaVu Sans"/>
                <a:ea typeface="DejaVu Sans"/>
                <a:cs typeface="DejaVu Sans"/>
              </a:rPr>
              <a:t>01   QUY MÔ &amp; ÁP LỰC THIẾU HỤT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5492DC-C25E-483A-8640-6E4F9DA82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67175"/>
            <a:ext cx="666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125" b="0">
                <a:solidFill>
                  <a:srgbClr val="06B6D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4125" b="0">
                <a:solidFill>
                  <a:srgbClr val="06B6D4"/>
                </a:solidFill>
                <a:latin typeface="DejaVu Sans"/>
                <a:ea typeface="DejaVu Sans"/>
                <a:cs typeface="DejaVu Sans"/>
              </a:defRPr>
            </a:pPr>
            <a:r>
              <a:rPr sz="4125" b="0">
                <a:solidFill>
                  <a:srgbClr val="06B6D4"/>
                </a:solidFill>
                <a:latin typeface="DejaVu Sans"/>
                <a:ea typeface="DejaVu Sans"/>
                <a:cs typeface="DejaVu Sans"/>
              </a:rPr>
              <a:t>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3B55FF-D97B-4911-A121-E0F6C3B9B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76700"/>
            <a:ext cx="4191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9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49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9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150.000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0CB70D-2A96-4EC8-956E-4F3196897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886325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06B6D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06B6D4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06B6D4"/>
                </a:solidFill>
                <a:latin typeface="DejaVu Sans"/>
                <a:ea typeface="DejaVu Sans"/>
                <a:cs typeface="DejaVu Sans"/>
              </a:rPr>
              <a:t>Nhân sự / năm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58ED14-1E83-4E47-918F-9BCF4C6A3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3054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CBD5E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CBD5E1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CBD5E1"/>
                </a:solidFill>
                <a:latin typeface="DejaVu Sans"/>
                <a:ea typeface="DejaVu Sans"/>
                <a:cs typeface="DejaVu Sans"/>
              </a:rPr>
              <a:t>Tổng nhu cầu tuyển dụng</a:t>
            </a:r>
          </a:p>
          <a:p xmlns:a="http://schemas.openxmlformats.org/drawingml/2006/main">
            <a:pPr>
              <a:defRPr sz="1800" b="0">
                <a:solidFill>
                  <a:srgbClr val="CBD5E1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CBD5E1"/>
                </a:solidFill>
                <a:latin typeface="DejaVu Sans"/>
                <a:ea typeface="DejaVu Sans"/>
                <a:cs typeface="DejaVu Sans"/>
              </a:rPr>
              <a:t>kỹ sư công nghệ mới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3C9957-9193-49F2-9331-7EAF4BC5C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076700"/>
            <a:ext cx="3524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950" b="1">
                <a:solidFill>
                  <a:srgbClr val="22C55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4950" b="1">
                <a:solidFill>
                  <a:srgbClr val="22C55E"/>
                </a:solidFill>
                <a:latin typeface="DejaVu Sans"/>
                <a:ea typeface="DejaVu Sans"/>
                <a:cs typeface="DejaVu Sans"/>
              </a:defRPr>
            </a:pPr>
            <a:r>
              <a:rPr sz="4950" b="1">
                <a:solidFill>
                  <a:srgbClr val="22C55E"/>
                </a:solidFill>
                <a:latin typeface="DejaVu Sans"/>
                <a:ea typeface="DejaVu Sans"/>
                <a:cs typeface="DejaVu Sans"/>
              </a:rPr>
              <a:t>35,8%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9BDDC9-91EB-4BEB-A50A-1CA4CED16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886325"/>
            <a:ext cx="352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Thiếu hụt nhân lực chất lượng cao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3E9FF9-CAE9-468F-8514-C51D1EBA8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553075"/>
            <a:ext cx="3524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CBD5E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CBD5E1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CBD5E1"/>
                </a:solidFill>
                <a:latin typeface="DejaVu Sans"/>
                <a:ea typeface="DejaVu Sans"/>
                <a:cs typeface="DejaVu Sans"/>
              </a:rPr>
              <a:t>Đặc biệt thiếu kỹ sư Senior</a:t>
            </a:r>
          </a:p>
          <a:p xmlns:a="http://schemas.openxmlformats.org/drawingml/2006/main">
            <a:pPr>
              <a:defRPr sz="1725" b="0">
                <a:solidFill>
                  <a:srgbClr val="CBD5E1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CBD5E1"/>
                </a:solidFill>
                <a:latin typeface="DejaVu Sans"/>
                <a:ea typeface="DejaVu Sans"/>
                <a:cs typeface="DejaVu Sans"/>
              </a:rPr>
              <a:t>và chuyên gia AI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C01610-D701-4CE0-BE53-FB9A0859E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0"/>
            <a:ext cx="914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0CBE93-9BB4-48B6-A043-D635FEA88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00825"/>
            <a:ext cx="914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6B6D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6B6D4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6B6D4"/>
                </a:solidFill>
                <a:latin typeface="DejaVu Sans"/>
                <a:ea typeface="DejaVu Sans"/>
                <a:cs typeface="DejaVu Sans"/>
              </a:rPr>
              <a:t>02   TOP 5 KỸ NĂNG ĐƯỢC SĂN ĐÓN</a:t>
            </a:r>
          </a:p>
        </p:txBody>
      </p:sp>
      <p:graphicFrame>
        <p:nvGraphicFramePr>
          <p:cNvPr id="16" name="Chart">
            <a:extLst xmlns:a="http://schemas.openxmlformats.org/drawingml/2006/main">
              <a:ext uri="{FF2B5EF4-FFF2-40B4-BE49-F238E27FC236}">
                <a16:creationId xmlns:a16="http://schemas.microsoft.com/office/drawing/2014/main" id="{CA525D7F-C398-4915-8632-D012E1E69562}"/>
              </a:ext>
            </a:extLst>
          </p:cNvPr>
          <p:cNvGraphicFramePr/>
          <p:nvPr/>
        </p:nvGraphicFramePr>
        <p:xfrm>
          <a:off xmlns:a="http://schemas.openxmlformats.org/drawingml/2006/main" x="876300" y="7172325"/>
          <a:ext xmlns:a="http://schemas.openxmlformats.org/drawingml/2006/main" cx="8858250" cy="3476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2c1b1d3800f4307"/>
          </a:graphicData>
        </a:graphic>
      </p:graphicFrame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87B752-080A-4ED0-A76F-F1D59FC82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315200"/>
            <a:ext cx="428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0">
                <a:solidFill>
                  <a:srgbClr val="06B6D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06B6D4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06B6D4"/>
                </a:solidFill>
                <a:latin typeface="DejaVu Sans"/>
                <a:ea typeface="DejaVu Sans"/>
                <a:cs typeface="DejaVu Sans"/>
              </a:rPr>
              <a:t>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2C5B45-F108-4B4E-A4FC-57B14C4C2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915275"/>
            <a:ext cx="428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0">
                <a:solidFill>
                  <a:srgbClr val="22C55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22C55E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22C55E"/>
                </a:solidFill>
                <a:latin typeface="DejaVu Sans"/>
                <a:ea typeface="DejaVu Sans"/>
                <a:cs typeface="DejaVu Sans"/>
              </a:rPr>
              <a:t>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D480CD-A70A-4473-B955-E0D040D54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515350"/>
            <a:ext cx="428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0">
                <a:solidFill>
                  <a:srgbClr val="06B6D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06B6D4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06B6D4"/>
                </a:solidFill>
                <a:latin typeface="DejaVu Sans"/>
                <a:ea typeface="DejaVu Sans"/>
                <a:cs typeface="DejaVu Sans"/>
              </a:rPr>
              <a:t>▦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3BDE9A-3FD5-46B3-9C8C-C82F9EAC8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15425"/>
            <a:ext cx="428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0">
                <a:solidFill>
                  <a:srgbClr val="22C55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22C55E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22C55E"/>
                </a:solidFill>
                <a:latin typeface="DejaVu Sans"/>
                <a:ea typeface="DejaVu Sans"/>
                <a:cs typeface="DejaVu Sans"/>
              </a:rPr>
              <a:t>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D90EEA-BDAD-4CB7-AC9A-D50BCD918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715500"/>
            <a:ext cx="428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0">
                <a:solidFill>
                  <a:srgbClr val="06B6D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06B6D4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06B6D4"/>
                </a:solidFill>
                <a:latin typeface="DejaVu Sans"/>
                <a:ea typeface="DejaVu Sans"/>
                <a:cs typeface="DejaVu Sans"/>
              </a:rPr>
              <a:t>↻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2CD6FE-9A08-4B87-942C-77D7BAF73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791825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CBD5E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CBD5E1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CBD5E1"/>
                </a:solidFill>
                <a:latin typeface="DejaVu Sans"/>
                <a:ea typeface="DejaVu Sans"/>
                <a:cs typeface="DejaVu Sans"/>
              </a:rPr>
              <a:t>AI/ML: Trí tuệ nhân tạo &amp; Học máy     Cloud: AWS / Azure / GCP</a:t>
            </a:r>
          </a:p>
          <a:p xmlns:a="http://schemas.openxmlformats.org/drawingml/2006/main">
            <a:pPr>
              <a:defRPr sz="1650" b="0">
                <a:solidFill>
                  <a:srgbClr val="CBD5E1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CBD5E1"/>
                </a:solidFill>
                <a:latin typeface="DejaVu Sans"/>
                <a:ea typeface="DejaVu Sans"/>
                <a:cs typeface="DejaVu Sans"/>
              </a:rPr>
              <a:t>Data: Dữ liệu lớn &amp; Phân tích     Cybersecurity: An toàn thông tin &amp; An ninh mạng</a:t>
            </a:r>
          </a:p>
          <a:p xmlns:a="http://schemas.openxmlformats.org/drawingml/2006/main">
            <a:pPr>
              <a:defRPr sz="1650" b="0">
                <a:solidFill>
                  <a:srgbClr val="CBD5E1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CBD5E1"/>
                </a:solidFill>
                <a:latin typeface="DejaVu Sans"/>
                <a:ea typeface="DejaVu Sans"/>
                <a:cs typeface="DejaVu Sans"/>
              </a:rPr>
              <a:t>DevOps/SRE: Vận hành &amp; Tự động hóa phát triển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B26838-2053-4E42-AB55-E43E24ED9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906250"/>
            <a:ext cx="914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2EBEFF-11D2-4B26-8B0F-D31D5A694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115800"/>
            <a:ext cx="914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6B6D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6B6D4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6B6D4"/>
                </a:solidFill>
                <a:latin typeface="DejaVu Sans"/>
                <a:ea typeface="DejaVu Sans"/>
                <a:cs typeface="DejaVu Sans"/>
              </a:rPr>
              <a:t>03   MỨC THU NHẬP &amp; XU HƯỚNG AI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E0F91D-42A5-4C03-B051-86CDB1F40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611100"/>
            <a:ext cx="914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Mức lương trung bình theo kinh nghiệm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0DFE43-115D-4B23-AB89-354FFC407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2630150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CBD5E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CBD5E1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CBD5E1"/>
                </a:solidFill>
                <a:latin typeface="DejaVu Sans"/>
                <a:ea typeface="DejaVu Sans"/>
                <a:cs typeface="DejaVu Sans"/>
              </a:rPr>
              <a:t>TRIỆU VNĐ / THÁNG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2B3690-FF4C-47BC-9D23-42B1DAC94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144500"/>
            <a:ext cx="619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CBD5E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CBD5E1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CBD5E1"/>
                </a:solidFill>
                <a:latin typeface="DejaVu Sans"/>
                <a:ea typeface="DejaVu Sans"/>
                <a:cs typeface="DejaVu Sans"/>
              </a:rPr>
              <a:t>Mới tốt nghiệp / Dưới 1 năm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ED5A6D-048F-42B0-AD19-A1CCD9F81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3144500"/>
            <a:ext cx="228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10–15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AB4AADB-F14F-493C-929F-5A41CDE78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725525"/>
            <a:ext cx="619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CBD5E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CBD5E1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CBD5E1"/>
                </a:solidFill>
                <a:latin typeface="DejaVu Sans"/>
                <a:ea typeface="DejaVu Sans"/>
                <a:cs typeface="DejaVu Sans"/>
              </a:rPr>
              <a:t>Kỹ sư từ 1–3 năm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AF3D1E-84EC-4107-991C-BFF03E090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3725525"/>
            <a:ext cx="228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18–30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C0984EE-192E-4A47-B053-2BB492BAD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306550"/>
            <a:ext cx="619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CBD5E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CBD5E1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CBD5E1"/>
                </a:solidFill>
                <a:latin typeface="DejaVu Sans"/>
                <a:ea typeface="DejaVu Sans"/>
                <a:cs typeface="DejaVu Sans"/>
              </a:rPr>
              <a:t>Kỹ sư từ 3–5 năm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D168E16-D10F-40CD-9E99-AA83EEA0F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4306550"/>
            <a:ext cx="228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35–55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ACB41B4-AB59-403D-8957-D376ED8C5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887575"/>
            <a:ext cx="619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CBD5E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CBD5E1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CBD5E1"/>
                </a:solidFill>
                <a:latin typeface="DejaVu Sans"/>
                <a:ea typeface="DejaVu Sans"/>
                <a:cs typeface="DejaVu Sans"/>
              </a:rPr>
              <a:t>Chuyên gia / Quản lý trên 5 năm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5198B71-B1C7-47BA-8BB6-31E8513B1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4887575"/>
            <a:ext cx="228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22C55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2C55E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22C55E"/>
                </a:solidFill>
                <a:latin typeface="DejaVu Sans"/>
                <a:ea typeface="DejaVu Sans"/>
                <a:cs typeface="DejaVu Sans"/>
              </a:rPr>
              <a:t>60–120+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B716AB2-2D67-4DA3-B5FD-887D295E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535275"/>
            <a:ext cx="914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BBF1F5A-9F11-42C8-867F-CA2BF04AA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0"/>
            <a:ext cx="9144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6B6D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6B6D4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6B6D4"/>
                </a:solidFill>
                <a:latin typeface="DejaVu Sans"/>
                <a:ea typeface="DejaVu Sans"/>
                <a:cs typeface="DejaVu Sans"/>
              </a:rPr>
              <a:t>LÀN SÓNG TRÍ TUỆ NHÂN TẠO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6A45FBC-3A3C-47FB-BA31-7E78A8400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249650"/>
            <a:ext cx="2524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1">
                <a:solidFill>
                  <a:srgbClr val="22C55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4350" b="1">
                <a:solidFill>
                  <a:srgbClr val="22C55E"/>
                </a:solidFill>
                <a:latin typeface="DejaVu Sans"/>
                <a:ea typeface="DejaVu Sans"/>
                <a:cs typeface="DejaVu Sans"/>
              </a:defRPr>
            </a:pPr>
            <a:r>
              <a:rPr sz="4350" b="1">
                <a:solidFill>
                  <a:srgbClr val="22C55E"/>
                </a:solidFill>
                <a:latin typeface="DejaVu Sans"/>
                <a:ea typeface="DejaVu Sans"/>
                <a:cs typeface="DejaVu Sans"/>
              </a:rPr>
              <a:t>78,5%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40D7930-C978-4816-8FA6-DEAD5E91B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6287750"/>
            <a:ext cx="6524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Doanh nghiệp công nghệ đã chính thức đưa</a:t>
            </a:r>
          </a:p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công cụ AI vào quy trình làm việc</a:t>
            </a:r>
          </a:p>
        </p:txBody>
      </p:sp>
      <p:graphicFrame>
        <p:nvGraphicFramePr>
          <p:cNvPr id="39" name="Chart">
            <a:extLst xmlns:a="http://schemas.openxmlformats.org/drawingml/2006/main">
              <a:ext uri="{FF2B5EF4-FFF2-40B4-BE49-F238E27FC236}">
                <a16:creationId xmlns:a16="http://schemas.microsoft.com/office/drawing/2014/main" id="{1FF5A2C0-B756-4ADA-9FFB-AE9363FDFEE3}"/>
              </a:ext>
            </a:extLst>
          </p:cNvPr>
          <p:cNvGraphicFramePr/>
          <p:nvPr/>
        </p:nvGraphicFramePr>
        <p:xfrm>
          <a:off xmlns:a="http://schemas.openxmlformats.org/drawingml/2006/main" x="571500" y="17049750"/>
          <a:ext xmlns:a="http://schemas.openxmlformats.org/drawingml/2006/main" cx="9144000" cy="3524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da00b22ab854102"/>
          </a:graphicData>
        </a:graphic>
      </p:graphicFrame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0E2121E-1F85-4F93-9506-624C3B090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52600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06B6D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06B6D4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06B6D4"/>
                </a:solidFill>
                <a:latin typeface="DejaVu Sans"/>
                <a:ea typeface="DejaVu Sans"/>
                <a:cs typeface="DejaVu Sans"/>
              </a:rPr>
              <a:t>92,0%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C07BEC5-3A04-48BB-9D88-85AE4C124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7535525"/>
            <a:ext cx="681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CBD5E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CBD5E1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CBD5E1"/>
                </a:solidFill>
                <a:latin typeface="DejaVu Sans"/>
                <a:ea typeface="DejaVu Sans"/>
                <a:cs typeface="DejaVu Sans"/>
              </a:rPr>
              <a:t>Nhà tuyển dụng ưu tiên kỹ năng làm chủ công cụ số</a:t>
            </a:r>
          </a:p>
          <a:p xmlns:a="http://schemas.openxmlformats.org/drawingml/2006/main">
            <a:pPr>
              <a:defRPr sz="1800" b="0">
                <a:solidFill>
                  <a:srgbClr val="CBD5E1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CBD5E1"/>
                </a:solidFill>
                <a:latin typeface="DejaVu Sans"/>
                <a:ea typeface="DejaVu Sans"/>
                <a:cs typeface="DejaVu Sans"/>
              </a:rPr>
              <a:t>và tư duy tự động hóa quy trình</a:t>
            </a:r>
          </a:p>
        </p:txBody>
      </p:sp>
    </p:spTree>
    <p:extLst>
      <p:ext uri="{BB962C8B-B14F-4D97-AF65-F5344CB8AC3E}">
        <p14:creationId xmlns:p14="http://schemas.microsoft.com/office/powerpoint/2010/main" val="554695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2026-10-12T01:38:37.1220000Z</dcterms:created>
  <dcterms:modified xsi:type="dcterms:W3CDTF">2026-10-12T01:38:37.1230000Z</dcterms:modified>
</coreProperties>
</file>