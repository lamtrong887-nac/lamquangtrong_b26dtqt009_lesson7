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" name="Google Shape;29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3B46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762000" y="714375"/>
            <a:ext cx="1047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90CFC4"/>
                </a:solidFill>
                <a:latin typeface="Roboto"/>
                <a:ea typeface="Roboto"/>
                <a:cs typeface="Roboto"/>
                <a:sym typeface="Roboto"/>
              </a:rPr>
              <a:t>KHỞI NGUYÊN Ý TƯỞNG</a:t>
            </a:r>
            <a:endParaRPr/>
          </a:p>
        </p:txBody>
      </p:sp>
      <p:sp>
        <p:nvSpPr>
          <p:cNvPr id="32" name="Google Shape;32;p8"/>
          <p:cNvSpPr/>
          <p:nvPr/>
        </p:nvSpPr>
        <p:spPr>
          <a:xfrm>
            <a:off x="762000" y="1619250"/>
            <a:ext cx="10572750" cy="1809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TIẾN TRÌNH ĐỔI MỚI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SÁNG TẠO DOANH NGHIỆP</a:t>
            </a:r>
            <a:endParaRPr/>
          </a:p>
        </p:txBody>
      </p:sp>
      <p:sp>
        <p:nvSpPr>
          <p:cNvPr id="33" name="Google Shape;33;p8"/>
          <p:cNvSpPr/>
          <p:nvPr/>
        </p:nvSpPr>
        <p:spPr>
          <a:xfrm>
            <a:off x="762000" y="3667125"/>
            <a:ext cx="1000125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DDEBE9"/>
                </a:solidFill>
                <a:latin typeface="Roboto"/>
                <a:ea typeface="Roboto"/>
                <a:cs typeface="Roboto"/>
                <a:sym typeface="Roboto"/>
              </a:rPr>
              <a:t>Phương pháp luận biến ý tưởng đột phá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DDEBE9"/>
                </a:solidFill>
                <a:latin typeface="Roboto"/>
                <a:ea typeface="Roboto"/>
                <a:cs typeface="Roboto"/>
                <a:sym typeface="Roboto"/>
              </a:rPr>
              <a:t>thành sản phẩm thương mại</a:t>
            </a:r>
            <a:endParaRPr/>
          </a:p>
        </p:txBody>
      </p:sp>
      <p:sp>
        <p:nvSpPr>
          <p:cNvPr id="34" name="Google Shape;34;p8"/>
          <p:cNvSpPr/>
          <p:nvPr/>
        </p:nvSpPr>
        <p:spPr>
          <a:xfrm>
            <a:off x="762000" y="5619750"/>
            <a:ext cx="106680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90CFC4"/>
                </a:solidFill>
                <a:latin typeface="Roboto"/>
                <a:ea typeface="Roboto"/>
                <a:cs typeface="Roboto"/>
                <a:sym typeface="Roboto"/>
              </a:rPr>
              <a:t>01  Thẩm định       02  MVP       03  Thử nghiệm       04  Mở rộng</a:t>
            </a:r>
            <a:endParaRPr/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7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66750" y="428625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GIAI ĐOẠN 1</a:t>
            </a:r>
            <a:endParaRPr/>
          </a:p>
        </p:txBody>
      </p:sp>
      <p:sp>
        <p:nvSpPr>
          <p:cNvPr id="41" name="Google Shape;41;p9"/>
          <p:cNvSpPr/>
          <p:nvPr/>
        </p:nvSpPr>
        <p:spPr>
          <a:xfrm>
            <a:off x="666750" y="981075"/>
            <a:ext cx="10477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Thẩm định tính khả thi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và nghiên cứu thị trường</a:t>
            </a:r>
            <a:endParaRPr/>
          </a:p>
        </p:txBody>
      </p:sp>
      <p:sp>
        <p:nvSpPr>
          <p:cNvPr id="42" name="Google Shape;42;p9"/>
          <p:cNvSpPr/>
          <p:nvPr/>
        </p:nvSpPr>
        <p:spPr>
          <a:xfrm>
            <a:off x="666750" y="2838450"/>
            <a:ext cx="29051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500+</a:t>
            </a:r>
            <a:endParaRPr/>
          </a:p>
        </p:txBody>
      </p:sp>
      <p:sp>
        <p:nvSpPr>
          <p:cNvPr id="43" name="Google Shape;43;p9"/>
          <p:cNvSpPr/>
          <p:nvPr/>
        </p:nvSpPr>
        <p:spPr>
          <a:xfrm>
            <a:off x="704850" y="3962400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đối tượng mục tiêu</a:t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>
            <a:off x="4095750" y="26003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TRỌNG TÂM</a:t>
            </a:r>
            <a:endParaRPr/>
          </a:p>
        </p:txBody>
      </p:sp>
      <p:sp>
        <p:nvSpPr>
          <p:cNvPr id="45" name="Google Shape;45;p9"/>
          <p:cNvSpPr/>
          <p:nvPr/>
        </p:nvSpPr>
        <p:spPr>
          <a:xfrm>
            <a:off x="4095750" y="29051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Lắng nghe nỗi đau của khách hàng và khảo sát 500+ đối tượng mục tiêu.</a:t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>
            <a:off x="4095750" y="380047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CÔNG CỤ</a:t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>
            <a:off x="4095750" y="410527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Khung mô hình Lean Canvas và phân tích dữ liệu tìm kiếm người dùng.</a:t>
            </a:r>
            <a:endParaRPr/>
          </a:p>
        </p:txBody>
      </p:sp>
      <p:sp>
        <p:nvSpPr>
          <p:cNvPr id="48" name="Google Shape;48;p9"/>
          <p:cNvSpPr/>
          <p:nvPr/>
        </p:nvSpPr>
        <p:spPr>
          <a:xfrm>
            <a:off x="4095750" y="50006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TIÊU CHÍ QUA CỔNG</a:t>
            </a:r>
            <a:endParaRPr/>
          </a:p>
        </p:txBody>
      </p:sp>
      <p:sp>
        <p:nvSpPr>
          <p:cNvPr id="49" name="Google Shape;49;p9"/>
          <p:cNvSpPr/>
          <p:nvPr/>
        </p:nvSpPr>
        <p:spPr>
          <a:xfrm>
            <a:off x="4095750" y="53054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Xác nhận ít nhất 65% người dùng sẵn sàng chi trả cho giải pháp.</a:t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>
            <a:off x="10572750" y="629602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E8387"/>
                </a:solidFill>
                <a:latin typeface="Roboto"/>
                <a:ea typeface="Roboto"/>
                <a:cs typeface="Roboto"/>
                <a:sym typeface="Roboto"/>
              </a:rPr>
              <a:t>2 / 5</a:t>
            </a:r>
            <a:endParaRPr/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7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/>
          <p:nvPr/>
        </p:nvSpPr>
        <p:spPr>
          <a:xfrm>
            <a:off x="666750" y="428625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GIAI ĐOẠN 2</a:t>
            </a:r>
            <a:endParaRPr/>
          </a:p>
        </p:txBody>
      </p:sp>
      <p:sp>
        <p:nvSpPr>
          <p:cNvPr id="57" name="Google Shape;57;p10"/>
          <p:cNvSpPr/>
          <p:nvPr/>
        </p:nvSpPr>
        <p:spPr>
          <a:xfrm>
            <a:off x="666750" y="981075"/>
            <a:ext cx="10477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Phát triển sản phẩm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thử nghiệm tinh gọn (MVP)</a:t>
            </a:r>
            <a:endParaRPr/>
          </a:p>
        </p:txBody>
      </p:sp>
      <p:sp>
        <p:nvSpPr>
          <p:cNvPr id="58" name="Google Shape;58;p10"/>
          <p:cNvSpPr/>
          <p:nvPr/>
        </p:nvSpPr>
        <p:spPr>
          <a:xfrm>
            <a:off x="666750" y="2838450"/>
            <a:ext cx="29051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6 tuần</a:t>
            </a:r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704850" y="3962400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xây dựng phiên bản MVP</a:t>
            </a:r>
            <a:endParaRPr/>
          </a:p>
        </p:txBody>
      </p:sp>
      <p:sp>
        <p:nvSpPr>
          <p:cNvPr id="60" name="Google Shape;60;p10"/>
          <p:cNvSpPr/>
          <p:nvPr/>
        </p:nvSpPr>
        <p:spPr>
          <a:xfrm>
            <a:off x="4095750" y="26003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TRỌNG TÂM</a:t>
            </a:r>
            <a:endParaRPr/>
          </a:p>
        </p:txBody>
      </p:sp>
      <p:sp>
        <p:nvSpPr>
          <p:cNvPr id="61" name="Google Shape;61;p10"/>
          <p:cNvSpPr/>
          <p:nvPr/>
        </p:nvSpPr>
        <p:spPr>
          <a:xfrm>
            <a:off x="4095750" y="29051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Xây dựng phiên bản sản phẩm có vừa đủ tính năng cốt lõi trong 6 tuần.</a:t>
            </a:r>
            <a:endParaRPr/>
          </a:p>
        </p:txBody>
      </p:sp>
      <p:sp>
        <p:nvSpPr>
          <p:cNvPr id="62" name="Google Shape;62;p10"/>
          <p:cNvSpPr/>
          <p:nvPr/>
        </p:nvSpPr>
        <p:spPr>
          <a:xfrm>
            <a:off x="4095750" y="380047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PHƯƠNG PHÁP</a:t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4095750" y="410527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Agile/Scrum Sprint 2 tuần, tập trung 100% vào giá trị khác biệt nhất.</a:t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4095750" y="50006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TIÊU CHÍ QUA CỔNG</a:t>
            </a:r>
            <a:endParaRPr/>
          </a:p>
        </p:txBody>
      </p:sp>
      <p:sp>
        <p:nvSpPr>
          <p:cNvPr id="65" name="Google Shape;65;p10"/>
          <p:cNvSpPr/>
          <p:nvPr/>
        </p:nvSpPr>
        <p:spPr>
          <a:xfrm>
            <a:off x="4095750" y="53054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Sản phẩm chạy ổn định trên môi trường thử nghiệm nội bộ.</a:t>
            </a:r>
            <a:endParaRPr/>
          </a:p>
        </p:txBody>
      </p:sp>
      <p:sp>
        <p:nvSpPr>
          <p:cNvPr id="66" name="Google Shape;66;p10"/>
          <p:cNvSpPr/>
          <p:nvPr/>
        </p:nvSpPr>
        <p:spPr>
          <a:xfrm>
            <a:off x="10572750" y="629602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E8387"/>
                </a:solidFill>
                <a:latin typeface="Roboto"/>
                <a:ea typeface="Roboto"/>
                <a:cs typeface="Roboto"/>
                <a:sym typeface="Roboto"/>
              </a:rPr>
              <a:t>3 / 5</a:t>
            </a:r>
            <a:endParaRPr/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/>
          <p:nvPr/>
        </p:nvSpPr>
        <p:spPr>
          <a:xfrm>
            <a:off x="666750" y="428625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GIAI ĐOẠN 3</a:t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666750" y="981075"/>
            <a:ext cx="10477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Thử nghiệm thực tế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và thu thập phản hồi</a:t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666750" y="2838450"/>
            <a:ext cx="29051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100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04850" y="3962400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khách hàng tiên phong</a:t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4095750" y="26003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TRỌNG TÂM</a:t>
            </a:r>
            <a:endParaRPr/>
          </a:p>
        </p:txBody>
      </p:sp>
      <p:sp>
        <p:nvSpPr>
          <p:cNvPr id="77" name="Google Shape;77;p11"/>
          <p:cNvSpPr/>
          <p:nvPr/>
        </p:nvSpPr>
        <p:spPr>
          <a:xfrm>
            <a:off x="4095750" y="29051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Phát hành bản thử nghiệm giới hạn cho nhóm 100 khách hàng tiên phong (Early Adopters).</a:t>
            </a:r>
            <a:endParaRPr/>
          </a:p>
        </p:txBody>
      </p:sp>
      <p:sp>
        <p:nvSpPr>
          <p:cNvPr id="78" name="Google Shape;78;p11"/>
          <p:cNvSpPr/>
          <p:nvPr/>
        </p:nvSpPr>
        <p:spPr>
          <a:xfrm>
            <a:off x="4095750" y="380047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ĐO LƯỜNG</a:t>
            </a:r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4095750" y="410527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Theo dõi chỉ số giữ chân người dùng (Retention Rate) và điểm số NPS.</a:t>
            </a:r>
            <a:endParaRPr/>
          </a:p>
        </p:txBody>
      </p:sp>
      <p:sp>
        <p:nvSpPr>
          <p:cNvPr id="80" name="Google Shape;80;p11"/>
          <p:cNvSpPr/>
          <p:nvPr/>
        </p:nvSpPr>
        <p:spPr>
          <a:xfrm>
            <a:off x="4095750" y="50006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TINH CHỈNH</a:t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4095750" y="53054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Cải tiến sản phẩm theo chu trình Lean “Xây dựng - Đo lường - Học hỏi”.</a:t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10572750" y="629602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E8387"/>
                </a:solidFill>
                <a:latin typeface="Roboto"/>
                <a:ea typeface="Roboto"/>
                <a:cs typeface="Roboto"/>
                <a:sym typeface="Roboto"/>
              </a:rPr>
              <a:t>4 / 5</a:t>
            </a:r>
            <a:endParaRPr/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7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666750" y="428625"/>
            <a:ext cx="1047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GIAI ĐOẠN 4</a:t>
            </a:r>
            <a:endParaRPr/>
          </a:p>
        </p:txBody>
      </p:sp>
      <p:sp>
        <p:nvSpPr>
          <p:cNvPr id="89" name="Google Shape;89;p12"/>
          <p:cNvSpPr/>
          <p:nvPr/>
        </p:nvSpPr>
        <p:spPr>
          <a:xfrm>
            <a:off x="666750" y="981075"/>
            <a:ext cx="10477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Tối ưu hóa và mở rộng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25">
                <a:solidFill>
                  <a:srgbClr val="163B46"/>
                </a:solidFill>
                <a:latin typeface="Roboto"/>
                <a:ea typeface="Roboto"/>
                <a:cs typeface="Roboto"/>
                <a:sym typeface="Roboto"/>
              </a:rPr>
              <a:t>quy mô thương mại</a:t>
            </a:r>
            <a:endParaRPr/>
          </a:p>
        </p:txBody>
      </p:sp>
      <p:sp>
        <p:nvSpPr>
          <p:cNvPr id="90" name="Google Shape;90;p12"/>
          <p:cNvSpPr/>
          <p:nvPr/>
        </p:nvSpPr>
        <p:spPr>
          <a:xfrm>
            <a:off x="666750" y="2838450"/>
            <a:ext cx="2905125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00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50.000</a:t>
            </a: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704850" y="3962400"/>
            <a:ext cx="2857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khách hàng trong năm đầu</a:t>
            </a:r>
            <a:endParaRPr/>
          </a:p>
        </p:txBody>
      </p:sp>
      <p:sp>
        <p:nvSpPr>
          <p:cNvPr id="92" name="Google Shape;92;p12"/>
          <p:cNvSpPr/>
          <p:nvPr/>
        </p:nvSpPr>
        <p:spPr>
          <a:xfrm>
            <a:off x="4095750" y="26003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TRỌNG TÂM</a:t>
            </a:r>
            <a:endParaRPr/>
          </a:p>
        </p:txBody>
      </p:sp>
      <p:sp>
        <p:nvSpPr>
          <p:cNvPr id="93" name="Google Shape;93;p12"/>
          <p:cNvSpPr/>
          <p:nvPr/>
        </p:nvSpPr>
        <p:spPr>
          <a:xfrm>
            <a:off x="4095750" y="290512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Đẩy mạnh chiến dịch tiếp thị số đa kênh và hoàn thiện hạ tầng máy chủ tải cao.</a:t>
            </a:r>
            <a:endParaRPr/>
          </a:p>
        </p:txBody>
      </p:sp>
      <p:sp>
        <p:nvSpPr>
          <p:cNvPr id="94" name="Google Shape;94;p12"/>
          <p:cNvSpPr/>
          <p:nvPr/>
        </p:nvSpPr>
        <p:spPr>
          <a:xfrm>
            <a:off x="4095750" y="380047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MỤC TIÊU</a:t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4095750" y="4105275"/>
            <a:ext cx="7048500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Tiếp cận 50.000 khách hàng trong năm đầu tiên ra mắt chính thức.</a:t>
            </a:r>
            <a:endParaRPr/>
          </a:p>
        </p:txBody>
      </p:sp>
      <p:sp>
        <p:nvSpPr>
          <p:cNvPr id="96" name="Google Shape;96;p12"/>
          <p:cNvSpPr/>
          <p:nvPr/>
        </p:nvSpPr>
        <p:spPr>
          <a:xfrm>
            <a:off x="4095750" y="5000625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22776E"/>
                </a:solidFill>
                <a:latin typeface="Roboto"/>
                <a:ea typeface="Roboto"/>
                <a:cs typeface="Roboto"/>
                <a:sym typeface="Roboto"/>
              </a:rPr>
              <a:t>KẾT LUẬN</a:t>
            </a:r>
            <a:endParaRPr/>
          </a:p>
        </p:txBody>
      </p:sp>
      <p:sp>
        <p:nvSpPr>
          <p:cNvPr id="97" name="Google Shape;97;p12"/>
          <p:cNvSpPr/>
          <p:nvPr/>
        </p:nvSpPr>
        <p:spPr>
          <a:xfrm>
            <a:off x="4095750" y="5305425"/>
            <a:ext cx="7048500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25">
                <a:solidFill>
                  <a:srgbClr val="263C43"/>
                </a:solidFill>
                <a:latin typeface="Roboto"/>
                <a:ea typeface="Roboto"/>
                <a:cs typeface="Roboto"/>
                <a:sym typeface="Roboto"/>
              </a:rPr>
              <a:t>“Đổi mới sáng tạo không phải là một khoảnh khắc may mắn, mà là một quy trình có tính kỷ luật thép”.</a:t>
            </a:r>
            <a:endParaRPr/>
          </a:p>
        </p:txBody>
      </p:sp>
      <p:sp>
        <p:nvSpPr>
          <p:cNvPr id="98" name="Google Shape;98;p12"/>
          <p:cNvSpPr/>
          <p:nvPr/>
        </p:nvSpPr>
        <p:spPr>
          <a:xfrm>
            <a:off x="10572750" y="6296025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6E8387"/>
                </a:solidFill>
                <a:latin typeface="Roboto"/>
                <a:ea typeface="Roboto"/>
                <a:cs typeface="Roboto"/>
                <a:sym typeface="Roboto"/>
              </a:rPr>
              <a:t>5 / 5</a:t>
            </a:r>
            <a:endParaRPr/>
          </a:p>
        </p:txBody>
      </p:sp>
    </p:spTree>
  </p:cSld>
  <p:clrMapOvr>
    <a:masterClrMapping/>
  </p:clrMapOvr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